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iuLYac6Bdtzlhde6loEtQrq6gm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4881D9-748D-4462-887D-B5103F68B91D}">
  <a:tblStyle styleId="{B44881D9-748D-4462-887D-B5103F68B9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43e77c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843e77c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55a13d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55a13d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55a13dd7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855a13dd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55a13d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855a13d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55a13d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855a13d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83b5c38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c83b5c38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83b5c38b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83b5c38b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k2cBdbCs1dTc5nNrNkh8z_tpcqZ3KKXD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4DhOqGscMgkUA6G4LkahPTceG5pfuAgK/view" TargetMode="External"/><Relationship Id="rId6" Type="http://schemas.openxmlformats.org/officeDocument/2006/relationships/hyperlink" Target="http://drive.google.com/file/d/1Gaj0PxxA0xA-kgWTJqXpnpTrre4Qj3m_/view" TargetMode="External"/><Relationship Id="rId7" Type="http://schemas.openxmlformats.org/officeDocument/2006/relationships/hyperlink" Target="http://drive.google.com/file/d/1QpZTwG8Mmsdl5r0JsRv0KUBQDmkjQkEP/view" TargetMode="External"/><Relationship Id="rId8" Type="http://schemas.openxmlformats.org/officeDocument/2006/relationships/hyperlink" Target="http://drive.google.com/file/d/1LskHHu7Rfeu3eXjHYUDFuQFDziQHYwmV/view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873675" y="489488"/>
            <a:ext cx="495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Information Technology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Madras Institute of Technology, 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Anna University - Chennai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62025" y="1793438"/>
            <a:ext cx="5974200" cy="1400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AZ 5811  Project - II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GenAI Music Rendition: A Deep Learning Framework for Controllable Indian Art Music Melody and Singer-Style Generation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036475" y="3329363"/>
            <a:ext cx="3660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No: 4,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Mirsha A K - 2022510044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Piruthviraj V S- 2022510012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Divyabharathi S- 2022510063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Dipakumar M - 2022510061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 Tech Artificial Intelligence and Data Science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50" y="520538"/>
            <a:ext cx="845400" cy="8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b="19655" l="7857" r="7467" t="18182"/>
          <a:stretch/>
        </p:blipFill>
        <p:spPr>
          <a:xfrm>
            <a:off x="7174961" y="444334"/>
            <a:ext cx="1257714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567550" y="4173188"/>
            <a:ext cx="321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Guided by,</a:t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R. Geetha Ramani, Dept. of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>
            <p:ph type="title"/>
          </p:nvPr>
        </p:nvSpPr>
        <p:spPr>
          <a:xfrm>
            <a:off x="311700" y="130875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-GB" sz="1837"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 b="1"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402475" y="1080361"/>
            <a:ext cx="39399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Raga Recognition &amp; Validation</a:t>
            </a:r>
            <a:endParaRPr b="1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 a </a:t>
            </a: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multi-channel CNN</a:t>
            </a: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using Mel and MODGD spectrograms for accurate raga classification.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 recognition across Carnatic, Hindustani, and Tamil film music.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Raga Generation</a:t>
            </a:r>
            <a:endParaRPr b="1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 a </a:t>
            </a: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Transformer-based</a:t>
            </a: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model to generate melodies conditioned on theme and raga.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 strict adherence to raga grammar, scale, and characteristic phrases.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9" name="Google Shape;69;p5"/>
          <p:cNvCxnSpPr/>
          <p:nvPr/>
        </p:nvCxnSpPr>
        <p:spPr>
          <a:xfrm>
            <a:off x="4569300" y="873275"/>
            <a:ext cx="5400" cy="39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5"/>
          <p:cNvSpPr txBox="1"/>
          <p:nvPr/>
        </p:nvSpPr>
        <p:spPr>
          <a:xfrm>
            <a:off x="4892400" y="688325"/>
            <a:ext cx="39399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Musical Theme &amp; Emotion Conversion</a:t>
            </a:r>
            <a:endParaRPr b="1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 a framework to transform the emotional character of a rendition.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Analyze and manipulate acoustic features such as </a:t>
            </a:r>
            <a:r>
              <a:rPr b="1" i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pitch dynamics, tempo, timbre, and energy distribution</a:t>
            </a:r>
            <a:endParaRPr b="1" i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GB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Singer Voice Conversion (Raga-Preserving)</a:t>
            </a:r>
            <a:endParaRPr b="1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 a </a:t>
            </a: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GAN/Diffusion-based</a:t>
            </a: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voice conversion module for singer-style adaptation.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Preserve lyrics, pitch contour, and raga identity while transforming vocal timbre.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311700" y="43396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-GB" sz="1837">
                <a:latin typeface="Poppins"/>
                <a:ea typeface="Poppins"/>
                <a:cs typeface="Poppins"/>
                <a:sym typeface="Poppins"/>
              </a:rPr>
              <a:t>Architecture Diagram</a:t>
            </a:r>
            <a:endParaRPr b="1"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8" name="Google Shape;78;p6" title="RagaMelodyAI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81" y="428512"/>
            <a:ext cx="8320051" cy="468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311700" y="224825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-GB" sz="1837">
                <a:latin typeface="Poppins"/>
                <a:ea typeface="Poppins"/>
                <a:cs typeface="Poppins"/>
                <a:sym typeface="Poppins"/>
              </a:rPr>
              <a:t>Existing Singer Voice Conversion Approaches</a:t>
            </a:r>
            <a:endParaRPr b="1"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427050" y="890925"/>
            <a:ext cx="40536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A. Spectral Mapping (Classical + Early DL)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Source singer → spectral features → mapping → target singer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Pitch leakage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No explicit control over gamakas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Poor audio quality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Assumes speech-like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B. GAN-based Singing Voice Conversion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Convert </a:t>
            </a:r>
            <a:r>
              <a:rPr b="1" lang="en-GB" sz="1100">
                <a:solidFill>
                  <a:schemeClr val="dk1"/>
                </a:solidFill>
              </a:rPr>
              <a:t>mel-spectrogra</a:t>
            </a:r>
            <a:r>
              <a:rPr b="1" lang="en-GB" sz="1100">
                <a:solidFill>
                  <a:schemeClr val="dk1"/>
                </a:solidFill>
              </a:rPr>
              <a:t>m, </a:t>
            </a:r>
            <a:r>
              <a:rPr lang="en-GB" sz="1100">
                <a:solidFill>
                  <a:schemeClr val="dk1"/>
                </a:solidFill>
              </a:rPr>
              <a:t>GAN learns </a:t>
            </a:r>
            <a:r>
              <a:rPr b="1" lang="en-GB" sz="1100">
                <a:solidFill>
                  <a:schemeClr val="dk1"/>
                </a:solidFill>
              </a:rPr>
              <a:t>timbre distribution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Pitch is entangled with timbre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No explicit pitch supervision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5" name="Google Shape;8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7" name="Google Shape;87;p7"/>
          <p:cNvCxnSpPr/>
          <p:nvPr/>
        </p:nvCxnSpPr>
        <p:spPr>
          <a:xfrm>
            <a:off x="4388875" y="891450"/>
            <a:ext cx="5400" cy="39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7"/>
          <p:cNvSpPr txBox="1"/>
          <p:nvPr/>
        </p:nvSpPr>
        <p:spPr>
          <a:xfrm>
            <a:off x="4778700" y="797496"/>
            <a:ext cx="4053600" cy="4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</a:t>
            </a:r>
            <a:r>
              <a:rPr b="1" lang="en-GB">
                <a:solidFill>
                  <a:schemeClr val="dk1"/>
                </a:solidFill>
              </a:rPr>
              <a:t>. </a:t>
            </a:r>
            <a:r>
              <a:rPr b="1" lang="en-GB">
                <a:solidFill>
                  <a:schemeClr val="dk1"/>
                </a:solidFill>
              </a:rPr>
              <a:t>Autoencoder-based (Content–Style Disentanglement)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Split representation into: </a:t>
            </a: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 (lyrics, pitch), </a:t>
            </a:r>
            <a:r>
              <a:rPr b="1" lang="en-GB" sz="1100">
                <a:solidFill>
                  <a:schemeClr val="dk1"/>
                </a:solidFill>
              </a:rPr>
              <a:t>Style</a:t>
            </a:r>
            <a:r>
              <a:rPr lang="en-GB" sz="1100">
                <a:solidFill>
                  <a:schemeClr val="dk1"/>
                </a:solidFill>
              </a:rPr>
              <a:t> (timbre)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Pitch often treated as part of content </a:t>
            </a:r>
            <a:r>
              <a:rPr b="1" lang="en-GB" sz="1100">
                <a:solidFill>
                  <a:schemeClr val="dk1"/>
                </a:solidFill>
              </a:rPr>
              <a:t>but not explicitly constrained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Reconstruction loss blurs gamakas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D</a:t>
            </a:r>
            <a:r>
              <a:rPr b="1" lang="en-GB">
                <a:solidFill>
                  <a:schemeClr val="dk1"/>
                </a:solidFill>
              </a:rPr>
              <a:t>. </a:t>
            </a:r>
            <a:r>
              <a:rPr b="1" lang="en-GB">
                <a:solidFill>
                  <a:schemeClr val="dk1"/>
                </a:solidFill>
              </a:rPr>
              <a:t>F0-Explicit Neural SVC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Vocal → Content Encoder → F0 extractor → Speaker Embedding → Decoder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Pitch smoothers destroy gamakas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Raga structure NOT enforced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No tonic (Sa) awareness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43e77c1c_0_6"/>
          <p:cNvSpPr txBox="1"/>
          <p:nvPr>
            <p:ph type="title"/>
          </p:nvPr>
        </p:nvSpPr>
        <p:spPr>
          <a:xfrm>
            <a:off x="311700" y="177850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837">
                <a:latin typeface="Poppins"/>
                <a:ea typeface="Poppins"/>
                <a:cs typeface="Poppins"/>
                <a:sym typeface="Poppins"/>
              </a:rPr>
              <a:t>Proposed Approach</a:t>
            </a:r>
            <a:endParaRPr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g3c843e77c1c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g3c843e77c1c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6" name="Google Shape;96;g3c843e77c1c_0_6" title="SVC_Architectur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825" y="659850"/>
            <a:ext cx="2814028" cy="42325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c843e77c1c_0_6"/>
          <p:cNvGraphicFramePr/>
          <p:nvPr/>
        </p:nvGraphicFramePr>
        <p:xfrm>
          <a:off x="4819650" y="85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{B44881D9-748D-4462-887D-B5103F68B91D}</a:tableStyleId>
              </a:tblPr>
              <a:tblGrid>
                <a:gridCol w="1581175"/>
                <a:gridCol w="1873975"/>
              </a:tblGrid>
              <a:tr h="32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Existing Model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Problem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GAN-SVC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Pitch floats freely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Autoencoder VC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 tonal center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F0-conditioned VC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Over-smooths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Speech VC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Ignores raga grammar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g3c843e77c1c_0_6"/>
          <p:cNvSpPr txBox="1"/>
          <p:nvPr/>
        </p:nvSpPr>
        <p:spPr>
          <a:xfrm>
            <a:off x="4874250" y="3185725"/>
            <a:ext cx="359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Higher </a:t>
            </a:r>
            <a:r>
              <a:rPr b="1" lang="en-GB" sz="1200">
                <a:solidFill>
                  <a:schemeClr val="dk1"/>
                </a:solidFill>
              </a:rPr>
              <a:t>F0 correlation</a:t>
            </a:r>
            <a:r>
              <a:rPr lang="en-GB" sz="1200">
                <a:solidFill>
                  <a:schemeClr val="dk1"/>
                </a:solidFill>
              </a:rPr>
              <a:t> → better raga retention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Lower </a:t>
            </a:r>
            <a:r>
              <a:rPr b="1" lang="en-GB" sz="1200">
                <a:solidFill>
                  <a:schemeClr val="dk1"/>
                </a:solidFill>
              </a:rPr>
              <a:t>MFCC drift</a:t>
            </a:r>
            <a:r>
              <a:rPr lang="en-GB" sz="1200">
                <a:solidFill>
                  <a:schemeClr val="dk1"/>
                </a:solidFill>
              </a:rPr>
              <a:t> → less musical distortion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Same WER → lyrics preserved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Higher speaker similarity → VC still works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808850" y="795293"/>
            <a:ext cx="77616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Accuracy, Precision, Recall, F1-score – raga recognition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Confusion Matrix – per-raga performance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Raga Adherence Score – fraction of notes within target raga scale / phrases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 (Mean Opinion Score) – perceived audio quality and naturalness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Speaker Similarity (embedding cosine distance) – SVC voice similarity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Pitch RMSE / Gross Pitch Error – pitch preservation after conversion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ABX / Preference Tests – user preference for style and timbre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0"/>
          <p:cNvSpPr txBox="1"/>
          <p:nvPr>
            <p:ph type="title"/>
          </p:nvPr>
        </p:nvSpPr>
        <p:spPr>
          <a:xfrm>
            <a:off x="311700" y="188618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837">
                <a:latin typeface="Poppins"/>
                <a:ea typeface="Poppins"/>
                <a:cs typeface="Poppins"/>
                <a:sym typeface="Poppins"/>
              </a:rPr>
              <a:t>Evaluation Metrics</a:t>
            </a:r>
            <a:endParaRPr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0"/>
          <p:cNvSpPr txBox="1"/>
          <p:nvPr>
            <p:ph type="title"/>
          </p:nvPr>
        </p:nvSpPr>
        <p:spPr>
          <a:xfrm>
            <a:off x="311700" y="2709901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837">
                <a:latin typeface="Poppins"/>
                <a:ea typeface="Poppins"/>
                <a:cs typeface="Poppins"/>
                <a:sym typeface="Poppins"/>
              </a:rPr>
              <a:t>Singer Voice Conversion Results</a:t>
            </a:r>
            <a:endParaRPr sz="1837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0" title="manjal_exact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030" y="40656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 title="ARR_Manjal_Veyil.wav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508" y="40656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 title="Ilayaraaja_Manjal_Veyil.wav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298" y="40656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 title="Mano_Manjal_Veyil.wav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3546" y="40656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0" title="SPB_Manjal_Veyil.wav">
            <a:hlinkClick r:id="rId8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6106" y="40656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2351017" y="3551121"/>
            <a:ext cx="15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AR Rahman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577497" y="3551121"/>
            <a:ext cx="15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Original Song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4194804" y="3551121"/>
            <a:ext cx="15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Ilayaraaja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6002328" y="3551121"/>
            <a:ext cx="10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Mano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7634758" y="3551121"/>
            <a:ext cx="8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SPB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855a13dd7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oppins"/>
                <a:ea typeface="Poppins"/>
                <a:cs typeface="Poppins"/>
                <a:sym typeface="Poppins"/>
              </a:rPr>
              <a:t>Swara Generation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g3c855a13dd7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 audio into time-domain signal for processing.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Extract fundamental frequency (F0) using the pYIN algorithm</a:t>
            </a:r>
            <a:r>
              <a:rPr lang="en-GB" sz="14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Normalize MIDI values into pitch classes using modulo 12 operation.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allowed swaras for the selected raga (Kalyani, Shankarabharanam, Mohanam).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Apply circular snapping algorithm to map detected pitch classes to nearest valid raga swara.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Generate raga-constrained pitch contours for all candidate ragas.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-GB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Compute deviation/error between original pitch contour and each raga-constrained contour.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c855a13dd7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55a13dd7_1_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oppins"/>
                <a:ea typeface="Poppins"/>
                <a:cs typeface="Poppins"/>
                <a:sym typeface="Poppins"/>
              </a:rPr>
              <a:t>Works done so far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c855a13dd7_1_9"/>
          <p:cNvSpPr txBox="1"/>
          <p:nvPr>
            <p:ph idx="1" type="body"/>
          </p:nvPr>
        </p:nvSpPr>
        <p:spPr>
          <a:xfrm>
            <a:off x="311700" y="978050"/>
            <a:ext cx="4061400" cy="3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Original and Normalized Pitch Comparison</a:t>
            </a:r>
            <a:endParaRPr sz="14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c855a13dd7_1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1" name="Google Shape;131;g3c855a13dd7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50" y="1689950"/>
            <a:ext cx="3485149" cy="273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c855a13dd7_1_9"/>
          <p:cNvSpPr txBox="1"/>
          <p:nvPr/>
        </p:nvSpPr>
        <p:spPr>
          <a:xfrm>
            <a:off x="4768800" y="978050"/>
            <a:ext cx="39663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Swara Generation</a:t>
            </a:r>
            <a:endParaRPr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Song </a:t>
            </a:r>
            <a:r>
              <a:rPr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Ennavale Adi Ennavale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['Ni3', 'Pa', 'Pa', 'Ri2', 'Ri2', 'Ri2', 'Ri2', 'Ma1', 'Sa', 'Ga3', 'Ga3', 'Ga3', 'Ga3', 'Ga3', 'Ri2', 'Ga3', 'Ri2', 'Pa', 'Sa', 'Da2', 'Ni3', 'Ni3', 'Ri2', 'Pa', 'Ri2', 'Ri2', 'Pa', 'Pa', 'Ri2', 'Ri2']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3" name="Google Shape;133;g3c855a13dd7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650" y="2300125"/>
            <a:ext cx="3879449" cy="2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55a13dd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Raga Recognition</a:t>
            </a:r>
            <a:endParaRPr/>
          </a:p>
        </p:txBody>
      </p:sp>
      <p:sp>
        <p:nvSpPr>
          <p:cNvPr id="139" name="Google Shape;139;g3c855a13dd7_0_0"/>
          <p:cNvSpPr txBox="1"/>
          <p:nvPr>
            <p:ph idx="1" type="body"/>
          </p:nvPr>
        </p:nvSpPr>
        <p:spPr>
          <a:xfrm>
            <a:off x="311700" y="1152475"/>
            <a:ext cx="8374800" cy="18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2082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2074">
                <a:solidFill>
                  <a:schemeClr val="dk1"/>
                </a:solidFill>
              </a:rPr>
              <a:t>Custom Tamil song dataset from </a:t>
            </a:r>
            <a:r>
              <a:rPr b="1" lang="en-GB" sz="2074">
                <a:solidFill>
                  <a:schemeClr val="dk1"/>
                </a:solidFill>
              </a:rPr>
              <a:t>Ilaiyaraaja</a:t>
            </a:r>
            <a:br>
              <a:rPr b="1" lang="en-GB" sz="2074">
                <a:solidFill>
                  <a:schemeClr val="dk1"/>
                </a:solidFill>
              </a:rPr>
            </a:br>
            <a:endParaRPr b="1" sz="2074">
              <a:solidFill>
                <a:schemeClr val="dk1"/>
              </a:solidFill>
            </a:endParaRPr>
          </a:p>
          <a:p>
            <a:pPr indent="-32082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2074">
                <a:solidFill>
                  <a:schemeClr val="dk1"/>
                </a:solidFill>
              </a:rPr>
              <a:t>1,100+ audio samples</a:t>
            </a:r>
            <a:r>
              <a:rPr lang="en-GB" sz="2074">
                <a:solidFill>
                  <a:schemeClr val="dk1"/>
                </a:solidFill>
              </a:rPr>
              <a:t>, </a:t>
            </a:r>
            <a:r>
              <a:rPr b="1" lang="en-GB" sz="2074">
                <a:solidFill>
                  <a:schemeClr val="dk1"/>
                </a:solidFill>
              </a:rPr>
              <a:t>90+ ragas</a:t>
            </a:r>
            <a:r>
              <a:rPr lang="en-GB" sz="2074">
                <a:solidFill>
                  <a:schemeClr val="dk1"/>
                </a:solidFill>
              </a:rPr>
              <a:t> after filtering</a:t>
            </a:r>
            <a:br>
              <a:rPr lang="en-GB" sz="2074">
                <a:solidFill>
                  <a:schemeClr val="dk1"/>
                </a:solidFill>
              </a:rPr>
            </a:br>
            <a:endParaRPr sz="2074">
              <a:solidFill>
                <a:schemeClr val="dk1"/>
              </a:solidFill>
            </a:endParaRPr>
          </a:p>
          <a:p>
            <a:pPr indent="-32082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2074">
                <a:solidFill>
                  <a:schemeClr val="dk1"/>
                </a:solidFill>
              </a:rPr>
              <a:t>Audio → </a:t>
            </a:r>
            <a:r>
              <a:rPr b="1" lang="en-GB" sz="2074">
                <a:solidFill>
                  <a:schemeClr val="dk1"/>
                </a:solidFill>
              </a:rPr>
              <a:t>Mel-spectrograms + MFCC, chroma, spectral, tempo features</a:t>
            </a:r>
            <a:br>
              <a:rPr b="1" lang="en-GB" sz="2074">
                <a:solidFill>
                  <a:schemeClr val="dk1"/>
                </a:solidFill>
              </a:rPr>
            </a:br>
            <a:endParaRPr b="1" sz="2074">
              <a:solidFill>
                <a:schemeClr val="dk1"/>
              </a:solidFill>
            </a:endParaRPr>
          </a:p>
          <a:p>
            <a:pPr indent="-32082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2074">
                <a:solidFill>
                  <a:schemeClr val="dk1"/>
                </a:solidFill>
              </a:rPr>
              <a:t>Train–test split</a:t>
            </a:r>
            <a:r>
              <a:rPr lang="en-GB" sz="2074">
                <a:solidFill>
                  <a:schemeClr val="dk1"/>
                </a:solidFill>
              </a:rPr>
              <a:t> for raga recognition model evaluation</a:t>
            </a:r>
            <a:endParaRPr sz="207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c855a13dd7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g3c855a13dd7_0_0"/>
          <p:cNvSpPr txBox="1"/>
          <p:nvPr/>
        </p:nvSpPr>
        <p:spPr>
          <a:xfrm>
            <a:off x="311700" y="2886375"/>
            <a:ext cx="81609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Model Used – Key Points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CNN-based deep learning model</a:t>
            </a:r>
            <a:r>
              <a:rPr lang="en-GB">
                <a:solidFill>
                  <a:schemeClr val="dk1"/>
                </a:solidFill>
              </a:rPr>
              <a:t> built using </a:t>
            </a:r>
            <a:r>
              <a:rPr b="1" lang="en-GB">
                <a:solidFill>
                  <a:schemeClr val="dk1"/>
                </a:solidFill>
              </a:rPr>
              <a:t>TensorFlow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Input: </a:t>
            </a:r>
            <a:r>
              <a:rPr b="1" lang="en-GB">
                <a:solidFill>
                  <a:schemeClr val="dk1"/>
                </a:solidFill>
              </a:rPr>
              <a:t>Mel-spectrogram images from audio songs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Output: </a:t>
            </a:r>
            <a:r>
              <a:rPr b="1" lang="en-GB">
                <a:solidFill>
                  <a:schemeClr val="dk1"/>
                </a:solidFill>
              </a:rPr>
              <a:t>Predicted  raga + confidence score</a:t>
            </a:r>
            <a:br>
              <a:rPr b="1"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855a13dd7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7" name="Google Shape;147;g3c855a13dd7_0_6"/>
          <p:cNvPicPr preferRelativeResize="0"/>
          <p:nvPr/>
        </p:nvPicPr>
        <p:blipFill rotWithShape="1">
          <a:blip r:embed="rId3">
            <a:alphaModFix/>
          </a:blip>
          <a:srcRect b="3390" l="0" r="0" t="-3390"/>
          <a:stretch/>
        </p:blipFill>
        <p:spPr>
          <a:xfrm>
            <a:off x="5088775" y="456850"/>
            <a:ext cx="3638750" cy="30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c855a13dd7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013275" cy="37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855a13dd7_0_6"/>
          <p:cNvSpPr txBox="1"/>
          <p:nvPr/>
        </p:nvSpPr>
        <p:spPr>
          <a:xfrm>
            <a:off x="5362375" y="109425"/>
            <a:ext cx="2927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74">
                <a:solidFill>
                  <a:schemeClr val="dk1"/>
                </a:solidFill>
              </a:rPr>
              <a:t>Mel-spectrograms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g3c855a13dd7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5150" y="3979500"/>
            <a:ext cx="5209975" cy="1077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c855a13dd7_0_6"/>
          <p:cNvSpPr txBox="1"/>
          <p:nvPr/>
        </p:nvSpPr>
        <p:spPr>
          <a:xfrm>
            <a:off x="3419900" y="3509250"/>
            <a:ext cx="363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OUTPUT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83b5c38b1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Acoustic Features </a:t>
            </a:r>
            <a:endParaRPr/>
          </a:p>
        </p:txBody>
      </p:sp>
      <p:sp>
        <p:nvSpPr>
          <p:cNvPr id="157" name="Google Shape;157;g3c83b5c38b1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135">
                <a:solidFill>
                  <a:schemeClr val="dk1"/>
                </a:solidFill>
              </a:rPr>
              <a:t>INPUT: Tamil Songs (.mp3)</a:t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↓ HPSS Vocal Separation ↓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 </a:t>
            </a:r>
            <a:r>
              <a:rPr b="1" lang="en-GB" sz="1135">
                <a:solidFill>
                  <a:schemeClr val="dk1"/>
                </a:solidFill>
              </a:rPr>
              <a:t>PROCESSED: 6+ songs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 </a:t>
            </a:r>
            <a:r>
              <a:rPr b="1" lang="en-GB" sz="1135">
                <a:solidFill>
                  <a:schemeClr val="dk1"/>
                </a:solidFill>
              </a:rPr>
              <a:t>FEATURES CSV (time-stamped):</a:t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• F0 Pitch (Hz)     → Raga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• RMS Energy        → Dynamics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• Spectral Centroid → Timbre  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• 13 MFCCs         → Style</a:t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chemeClr val="dk1"/>
                </a:solidFill>
              </a:rPr>
              <a:t> </a:t>
            </a:r>
            <a:r>
              <a:rPr b="1" lang="en-GB" sz="1135">
                <a:solidFill>
                  <a:schemeClr val="dk1"/>
                </a:solidFill>
              </a:rPr>
              <a:t>PLOTS GENERATED:</a:t>
            </a:r>
            <a:br>
              <a:rPr b="1" lang="en-GB" sz="1135">
                <a:solidFill>
                  <a:schemeClr val="dk1"/>
                </a:solidFill>
              </a:rPr>
            </a:b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135">
                <a:solidFill>
                  <a:schemeClr val="dk1"/>
                </a:solidFill>
              </a:rPr>
              <a:t>Waveform </a:t>
            </a:r>
            <a:br>
              <a:rPr b="1" lang="en-GB" sz="1135">
                <a:solidFill>
                  <a:schemeClr val="dk1"/>
                </a:solidFill>
              </a:rPr>
            </a:br>
            <a:r>
              <a:rPr b="1" lang="en-GB" sz="1135">
                <a:solidFill>
                  <a:schemeClr val="dk1"/>
                </a:solidFill>
              </a:rPr>
              <a:t>Pitch </a:t>
            </a:r>
            <a:br>
              <a:rPr b="1" lang="en-GB" sz="1135">
                <a:solidFill>
                  <a:schemeClr val="dk1"/>
                </a:solidFill>
              </a:rPr>
            </a:br>
            <a:r>
              <a:rPr b="1" lang="en-GB" sz="1135">
                <a:solidFill>
                  <a:schemeClr val="dk1"/>
                </a:solidFill>
              </a:rPr>
              <a:t>Energy </a:t>
            </a:r>
            <a:br>
              <a:rPr b="1" lang="en-GB" sz="1135">
                <a:solidFill>
                  <a:schemeClr val="dk1"/>
                </a:solidFill>
              </a:rPr>
            </a:br>
            <a:r>
              <a:rPr b="1" lang="en-GB" sz="1135">
                <a:solidFill>
                  <a:schemeClr val="dk1"/>
                </a:solidFill>
              </a:rPr>
              <a:t>Spectrogram</a:t>
            </a:r>
            <a:br>
              <a:rPr lang="en-GB" sz="1135">
                <a:solidFill>
                  <a:schemeClr val="dk1"/>
                </a:solidFill>
              </a:rPr>
            </a:br>
            <a:endParaRPr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35">
              <a:solidFill>
                <a:schemeClr val="dk1"/>
              </a:solidFill>
            </a:endParaRPr>
          </a:p>
        </p:txBody>
      </p:sp>
      <p:sp>
        <p:nvSpPr>
          <p:cNvPr id="158" name="Google Shape;158;g3c83b5c38b1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9" name="Google Shape;159;g3c83b5c38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5830" y="10771"/>
            <a:ext cx="4718100" cy="12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c83b5c38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5831" y="1319371"/>
            <a:ext cx="4718099" cy="11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c83b5c38b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5830" y="2502609"/>
            <a:ext cx="4718099" cy="11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c83b5c38b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5830" y="3728134"/>
            <a:ext cx="4718100" cy="13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3b5c38b1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g3c83b5c38b1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g3c83b5c38b1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05" y="817710"/>
            <a:ext cx="395849" cy="2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c83b5c38b1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250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c83b5c38b1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392375"/>
            <a:ext cx="9205852" cy="294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/>
        </p:nvSpPr>
        <p:spPr>
          <a:xfrm>
            <a:off x="684000" y="698436"/>
            <a:ext cx="77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Music ControlNet: Multiple Time-Varying Controls for Music Generation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553050" y="1172000"/>
            <a:ext cx="3662100" cy="3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Problems Addressed: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Text-to-music models struggle with precise, time-varying control over melody, dynamics, and rhythm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Existing systems cannot incorporate multiple synchronized musical controls simultaneously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Method Overview: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Adapts ControlNet (image-domain pixel-wise controls) to audio spectrograms with time-varying melody, dynamics, and rhythm controls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per-control MLPs to map control signals to spectrogram frequency bins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Employs masking strategy to allow any subset of controls, fully or partially specified in time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4"/>
          <p:cNvSpPr txBox="1"/>
          <p:nvPr>
            <p:ph type="title"/>
          </p:nvPr>
        </p:nvSpPr>
        <p:spPr>
          <a:xfrm>
            <a:off x="311700" y="224825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-GB" sz="1837">
                <a:latin typeface="Poppins"/>
                <a:ea typeface="Poppins"/>
                <a:cs typeface="Poppins"/>
                <a:sym typeface="Poppins"/>
              </a:rPr>
              <a:t>Base Paper</a:t>
            </a:r>
            <a:endParaRPr b="1" sz="1837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0" name="Google Shape;180;p4"/>
          <p:cNvCxnSpPr/>
          <p:nvPr/>
        </p:nvCxnSpPr>
        <p:spPr>
          <a:xfrm>
            <a:off x="4568425" y="1331125"/>
            <a:ext cx="25500" cy="35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4"/>
          <p:cNvSpPr txBox="1"/>
          <p:nvPr/>
        </p:nvSpPr>
        <p:spPr>
          <a:xfrm>
            <a:off x="4819975" y="1172000"/>
            <a:ext cx="37773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Contributions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 framework for precise, time-varying music controls on diffusion models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Novel masking strategy enabling partial control specification for improvisation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Demonstrates 49% better melody adherence than MusicGen with 35x fewer parameters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this paper?</a:t>
            </a:r>
            <a:endParaRPr b="1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Directly applicable to raga-constrained melody control (svara-based pitch, dynamics, rhythm)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Provides architecture template for integrating multiple musical controls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b="0" i="0" lang="en-GB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Proven approach for time-varying control integration into diffusion models.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311700" y="13158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837"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183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401600" y="710000"/>
            <a:ext cx="843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01600" y="468100"/>
            <a:ext cx="84306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[1] Rajan, S., and Sivan, R., "Multi-channel CNN-Based Rāga Recognition in Carnatic Music Using Sequential Aggregation Strategy", Circuits, Systems, and Signal Processing, Vol. 42, 2023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[2]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Sharma, A., Kumar, P., Reddy, V., and Pandey, K., "Towards Building a Deep Learning Based Automated Indian Classical Music Tutor for the Masses", Heliyon, Vol. 8, No. 5, 2022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Singh, R., Kumar, A., Verma, S., and Saxena, P., "Raga Recognition of Indian Classical Music Using Meerkat Optimization Based MFCC and Fine Tuned BILSTM-XGBOOST", Circuits, Systems, and Signal Processing, 2025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[4]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Kumar, V., Mishra, A., Gupta, R., and Sharma, N., "Explainable Deep Learning Analysis for Raga Identification in Indian Art Music", IEEE Transactions on Audio, Speech, and Language Processing, Vol. 32, 2024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Zhang, L., Chen, W., Liu, Y., and Wang, X., "Music Generation Using Deep Learning and Generative AI: A Systematic Review", IEEE Access, Vol. 12, 2024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[6]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Benetos, E., Coutinho, G., Holzapfel, A., and Klapuri, A., "Music Deep Learning: Deep Learning Methods for Music Signal Processing—A Review of the State-of-the-Art", IEEE/ACM Transactions on Audio, Speech, and Language Processing, Vol. 31, 2023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[7]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Wu, H., Tan, J., Liu, Y., and Zhou, S., "Music ControlNet: Multiple Time-Varying Controls for Music Generation", IEEE/ACM Transactions on Audio, Speech, and Language Processing, Vol. 32, 2024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[8]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Sisman, B., Yamagishi, J., King, S., and Li, H., "SINGAN: Singing Voice Conversion with Generative Adversarial Networks", APSIPA Annual Summit and Conference, 2019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[9] </a:t>
            </a: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Shih, Y., Wu, S., Zalkow, F., and Yang, Y., "Theme Transformer: Symbolic Music Generation With Theme-Conditioned Transformer", IEEE Transactions on Multimedia, Vol. 25, 2023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[10] Deng, X., Tong, X., Liu, R., and Zhang, Z., "Singing Voice Conversion Based on Non-Parallel Corpus", IEEE/ACM Transactions on Audio, Speech, and Language Processing, Vol. 28, 2020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311700" y="2381100"/>
            <a:ext cx="8520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